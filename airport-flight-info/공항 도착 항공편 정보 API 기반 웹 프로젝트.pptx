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0" r:id="rId4"/>
    <p:sldId id="257" r:id="rId5"/>
    <p:sldId id="268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6327" autoAdjust="0"/>
  </p:normalViewPr>
  <p:slideViewPr>
    <p:cSldViewPr snapToGrid="0">
      <p:cViewPr>
        <p:scale>
          <a:sx n="100" d="100"/>
          <a:sy n="100" d="100"/>
        </p:scale>
        <p:origin x="141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FC839D-0FDC-4F2D-B950-89C2E04E7FF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FC2634D-5CD6-4837-B9A0-EF73BFA69530}">
      <dgm:prSet/>
      <dgm:spPr/>
      <dgm:t>
        <a:bodyPr/>
        <a:lstStyle/>
        <a:p>
          <a:r>
            <a:rPr lang="ko-KR"/>
            <a:t>실생활과 밀접한 항공 정보 활용</a:t>
          </a:r>
          <a:endParaRPr lang="en-US"/>
        </a:p>
      </dgm:t>
    </dgm:pt>
    <dgm:pt modelId="{EC6531B7-1A9C-479C-BCB2-E8C9E1B77652}" type="parTrans" cxnId="{B319A2F2-F3A7-435E-8874-BD4EED468B18}">
      <dgm:prSet/>
      <dgm:spPr/>
      <dgm:t>
        <a:bodyPr/>
        <a:lstStyle/>
        <a:p>
          <a:endParaRPr lang="en-US"/>
        </a:p>
      </dgm:t>
    </dgm:pt>
    <dgm:pt modelId="{BCB0A7E0-82F8-402C-B34E-972780446577}" type="sibTrans" cxnId="{B319A2F2-F3A7-435E-8874-BD4EED468B18}">
      <dgm:prSet/>
      <dgm:spPr/>
      <dgm:t>
        <a:bodyPr/>
        <a:lstStyle/>
        <a:p>
          <a:endParaRPr lang="en-US"/>
        </a:p>
      </dgm:t>
    </dgm:pt>
    <dgm:pt modelId="{BF92F7E6-7DF8-486D-8167-DD492F05EE75}">
      <dgm:prSet/>
      <dgm:spPr/>
      <dgm:t>
        <a:bodyPr/>
        <a:lstStyle/>
        <a:p>
          <a:r>
            <a:rPr lang="ko-KR"/>
            <a:t>실시간 데이터 제공</a:t>
          </a:r>
          <a:endParaRPr lang="en-US"/>
        </a:p>
      </dgm:t>
    </dgm:pt>
    <dgm:pt modelId="{3F99EDF3-03D3-4432-8A6C-621D6E9293F8}" type="parTrans" cxnId="{F2A9C4B7-8152-4C82-AF99-79E8411EF20D}">
      <dgm:prSet/>
      <dgm:spPr/>
      <dgm:t>
        <a:bodyPr/>
        <a:lstStyle/>
        <a:p>
          <a:endParaRPr lang="en-US"/>
        </a:p>
      </dgm:t>
    </dgm:pt>
    <dgm:pt modelId="{2879D4D7-02DF-4A60-A9FC-22FFABFF9921}" type="sibTrans" cxnId="{F2A9C4B7-8152-4C82-AF99-79E8411EF20D}">
      <dgm:prSet/>
      <dgm:spPr/>
      <dgm:t>
        <a:bodyPr/>
        <a:lstStyle/>
        <a:p>
          <a:endParaRPr lang="en-US"/>
        </a:p>
      </dgm:t>
    </dgm:pt>
    <dgm:pt modelId="{C8247E59-9C6B-4A8B-A679-F8637439836A}">
      <dgm:prSet/>
      <dgm:spPr/>
      <dgm:t>
        <a:bodyPr/>
        <a:lstStyle/>
        <a:p>
          <a:r>
            <a:rPr lang="ko-KR" dirty="0" err="1"/>
            <a:t>공공데이터포털의</a:t>
          </a:r>
          <a:r>
            <a:rPr lang="ko-KR" dirty="0"/>
            <a:t> 신뢰성 높은 </a:t>
          </a:r>
          <a:r>
            <a:rPr lang="en-US" dirty="0"/>
            <a:t>API</a:t>
          </a:r>
        </a:p>
      </dgm:t>
    </dgm:pt>
    <dgm:pt modelId="{D7848440-5917-4539-9DC9-1AD90AEA84C6}" type="parTrans" cxnId="{74C7A6E4-17FC-482B-95A1-909A7B3CF627}">
      <dgm:prSet/>
      <dgm:spPr/>
      <dgm:t>
        <a:bodyPr/>
        <a:lstStyle/>
        <a:p>
          <a:endParaRPr lang="en-US"/>
        </a:p>
      </dgm:t>
    </dgm:pt>
    <dgm:pt modelId="{D7B21206-8DDD-4851-9502-70BE5EDAA333}" type="sibTrans" cxnId="{74C7A6E4-17FC-482B-95A1-909A7B3CF627}">
      <dgm:prSet/>
      <dgm:spPr/>
      <dgm:t>
        <a:bodyPr/>
        <a:lstStyle/>
        <a:p>
          <a:endParaRPr lang="en-US"/>
        </a:p>
      </dgm:t>
    </dgm:pt>
    <dgm:pt modelId="{D6904545-A49D-491C-9A49-9A07E3FBC094}">
      <dgm:prSet/>
      <dgm:spPr/>
      <dgm:t>
        <a:bodyPr/>
        <a:lstStyle/>
        <a:p>
          <a:r>
            <a:rPr lang="ko-KR"/>
            <a:t>실시간 항공편 정보를 조회할 수 있는 홈페이지</a:t>
          </a:r>
          <a:endParaRPr lang="en-US"/>
        </a:p>
      </dgm:t>
    </dgm:pt>
    <dgm:pt modelId="{30E2D144-C73B-4087-B21B-A836046454E3}" type="parTrans" cxnId="{5BF79109-3DD5-47D5-BADD-C37EF323666D}">
      <dgm:prSet/>
      <dgm:spPr/>
      <dgm:t>
        <a:bodyPr/>
        <a:lstStyle/>
        <a:p>
          <a:endParaRPr lang="en-US"/>
        </a:p>
      </dgm:t>
    </dgm:pt>
    <dgm:pt modelId="{8A313D2F-C131-481B-A58A-BBD19276CB0F}" type="sibTrans" cxnId="{5BF79109-3DD5-47D5-BADD-C37EF323666D}">
      <dgm:prSet/>
      <dgm:spPr/>
      <dgm:t>
        <a:bodyPr/>
        <a:lstStyle/>
        <a:p>
          <a:endParaRPr lang="en-US"/>
        </a:p>
      </dgm:t>
    </dgm:pt>
    <dgm:pt modelId="{49648578-EF3F-4288-B4EB-D347E2925CB0}" type="pres">
      <dgm:prSet presAssocID="{3AFC839D-0FDC-4F2D-B950-89C2E04E7FF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0B58B10-392B-401B-AE1F-0552146F6D42}" type="pres">
      <dgm:prSet presAssocID="{4FC2634D-5CD6-4837-B9A0-EF73BFA69530}" presName="hierRoot1" presStyleCnt="0"/>
      <dgm:spPr/>
    </dgm:pt>
    <dgm:pt modelId="{5F54B6E6-AE6D-4A3D-AFB1-B1ED8E37DB08}" type="pres">
      <dgm:prSet presAssocID="{4FC2634D-5CD6-4837-B9A0-EF73BFA69530}" presName="composite" presStyleCnt="0"/>
      <dgm:spPr/>
    </dgm:pt>
    <dgm:pt modelId="{ADCE4E0E-CDBC-40AC-9532-84379F1C1435}" type="pres">
      <dgm:prSet presAssocID="{4FC2634D-5CD6-4837-B9A0-EF73BFA69530}" presName="background" presStyleLbl="node0" presStyleIdx="0" presStyleCnt="4"/>
      <dgm:spPr/>
    </dgm:pt>
    <dgm:pt modelId="{46665506-A43B-4CC6-88B0-2DC1518F1B00}" type="pres">
      <dgm:prSet presAssocID="{4FC2634D-5CD6-4837-B9A0-EF73BFA69530}" presName="text" presStyleLbl="fgAcc0" presStyleIdx="0" presStyleCnt="4">
        <dgm:presLayoutVars>
          <dgm:chPref val="3"/>
        </dgm:presLayoutVars>
      </dgm:prSet>
      <dgm:spPr/>
    </dgm:pt>
    <dgm:pt modelId="{D5B5617A-2546-4BF4-8E93-85384974E911}" type="pres">
      <dgm:prSet presAssocID="{4FC2634D-5CD6-4837-B9A0-EF73BFA69530}" presName="hierChild2" presStyleCnt="0"/>
      <dgm:spPr/>
    </dgm:pt>
    <dgm:pt modelId="{E8D19991-2387-4D75-8A9F-B735DC0701A9}" type="pres">
      <dgm:prSet presAssocID="{BF92F7E6-7DF8-486D-8167-DD492F05EE75}" presName="hierRoot1" presStyleCnt="0"/>
      <dgm:spPr/>
    </dgm:pt>
    <dgm:pt modelId="{A0BA4A58-01C1-4B7E-938B-F54FB2B5C846}" type="pres">
      <dgm:prSet presAssocID="{BF92F7E6-7DF8-486D-8167-DD492F05EE75}" presName="composite" presStyleCnt="0"/>
      <dgm:spPr/>
    </dgm:pt>
    <dgm:pt modelId="{EB82EF2F-4C9B-4B52-B2CD-5E5991BFC585}" type="pres">
      <dgm:prSet presAssocID="{BF92F7E6-7DF8-486D-8167-DD492F05EE75}" presName="background" presStyleLbl="node0" presStyleIdx="1" presStyleCnt="4"/>
      <dgm:spPr/>
    </dgm:pt>
    <dgm:pt modelId="{01759C36-9A9C-4E9C-8A8A-6A264C847208}" type="pres">
      <dgm:prSet presAssocID="{BF92F7E6-7DF8-486D-8167-DD492F05EE75}" presName="text" presStyleLbl="fgAcc0" presStyleIdx="1" presStyleCnt="4">
        <dgm:presLayoutVars>
          <dgm:chPref val="3"/>
        </dgm:presLayoutVars>
      </dgm:prSet>
      <dgm:spPr/>
    </dgm:pt>
    <dgm:pt modelId="{155BF4D5-5B91-4134-814E-B44C850DE758}" type="pres">
      <dgm:prSet presAssocID="{BF92F7E6-7DF8-486D-8167-DD492F05EE75}" presName="hierChild2" presStyleCnt="0"/>
      <dgm:spPr/>
    </dgm:pt>
    <dgm:pt modelId="{00F1E9AE-922C-4E45-B6C1-1EC65757E9BC}" type="pres">
      <dgm:prSet presAssocID="{C8247E59-9C6B-4A8B-A679-F8637439836A}" presName="hierRoot1" presStyleCnt="0"/>
      <dgm:spPr/>
    </dgm:pt>
    <dgm:pt modelId="{8A45156B-4A44-4CD6-8BF2-FD15E0CD52CE}" type="pres">
      <dgm:prSet presAssocID="{C8247E59-9C6B-4A8B-A679-F8637439836A}" presName="composite" presStyleCnt="0"/>
      <dgm:spPr/>
    </dgm:pt>
    <dgm:pt modelId="{795F1FA6-E4DF-44D0-AF43-F4210C49AE30}" type="pres">
      <dgm:prSet presAssocID="{C8247E59-9C6B-4A8B-A679-F8637439836A}" presName="background" presStyleLbl="node0" presStyleIdx="2" presStyleCnt="4"/>
      <dgm:spPr/>
    </dgm:pt>
    <dgm:pt modelId="{F3B83F07-8BB2-4045-84EC-320DF2D7BB8A}" type="pres">
      <dgm:prSet presAssocID="{C8247E59-9C6B-4A8B-A679-F8637439836A}" presName="text" presStyleLbl="fgAcc0" presStyleIdx="2" presStyleCnt="4">
        <dgm:presLayoutVars>
          <dgm:chPref val="3"/>
        </dgm:presLayoutVars>
      </dgm:prSet>
      <dgm:spPr/>
    </dgm:pt>
    <dgm:pt modelId="{A6D93F06-0655-4340-81D6-C51ABC482E07}" type="pres">
      <dgm:prSet presAssocID="{C8247E59-9C6B-4A8B-A679-F8637439836A}" presName="hierChild2" presStyleCnt="0"/>
      <dgm:spPr/>
    </dgm:pt>
    <dgm:pt modelId="{E678C3A5-6DCC-4F36-95ED-887D58D096B9}" type="pres">
      <dgm:prSet presAssocID="{D6904545-A49D-491C-9A49-9A07E3FBC094}" presName="hierRoot1" presStyleCnt="0"/>
      <dgm:spPr/>
    </dgm:pt>
    <dgm:pt modelId="{FD8E68A0-0B64-4CD6-8890-43DF5E66B345}" type="pres">
      <dgm:prSet presAssocID="{D6904545-A49D-491C-9A49-9A07E3FBC094}" presName="composite" presStyleCnt="0"/>
      <dgm:spPr/>
    </dgm:pt>
    <dgm:pt modelId="{02600E55-7269-4693-B1E0-A86521202ADB}" type="pres">
      <dgm:prSet presAssocID="{D6904545-A49D-491C-9A49-9A07E3FBC094}" presName="background" presStyleLbl="node0" presStyleIdx="3" presStyleCnt="4"/>
      <dgm:spPr/>
    </dgm:pt>
    <dgm:pt modelId="{DE0E0C94-9A18-4BAF-ACDB-6F0954CC57BE}" type="pres">
      <dgm:prSet presAssocID="{D6904545-A49D-491C-9A49-9A07E3FBC094}" presName="text" presStyleLbl="fgAcc0" presStyleIdx="3" presStyleCnt="4">
        <dgm:presLayoutVars>
          <dgm:chPref val="3"/>
        </dgm:presLayoutVars>
      </dgm:prSet>
      <dgm:spPr/>
    </dgm:pt>
    <dgm:pt modelId="{A3D259E9-F499-429F-BF35-08DCAF3CFB01}" type="pres">
      <dgm:prSet presAssocID="{D6904545-A49D-491C-9A49-9A07E3FBC094}" presName="hierChild2" presStyleCnt="0"/>
      <dgm:spPr/>
    </dgm:pt>
  </dgm:ptLst>
  <dgm:cxnLst>
    <dgm:cxn modelId="{5BF79109-3DD5-47D5-BADD-C37EF323666D}" srcId="{3AFC839D-0FDC-4F2D-B950-89C2E04E7FF3}" destId="{D6904545-A49D-491C-9A49-9A07E3FBC094}" srcOrd="3" destOrd="0" parTransId="{30E2D144-C73B-4087-B21B-A836046454E3}" sibTransId="{8A313D2F-C131-481B-A58A-BBD19276CB0F}"/>
    <dgm:cxn modelId="{E7CFC91D-15F8-4AAD-B3C3-0050315AED4C}" type="presOf" srcId="{BF92F7E6-7DF8-486D-8167-DD492F05EE75}" destId="{01759C36-9A9C-4E9C-8A8A-6A264C847208}" srcOrd="0" destOrd="0" presId="urn:microsoft.com/office/officeart/2005/8/layout/hierarchy1"/>
    <dgm:cxn modelId="{DD5CAC24-91FC-42E5-9A54-47E7F3A96BCB}" type="presOf" srcId="{3AFC839D-0FDC-4F2D-B950-89C2E04E7FF3}" destId="{49648578-EF3F-4288-B4EB-D347E2925CB0}" srcOrd="0" destOrd="0" presId="urn:microsoft.com/office/officeart/2005/8/layout/hierarchy1"/>
    <dgm:cxn modelId="{A49FB45C-7B47-4E4F-9FA8-B09F7BA087C0}" type="presOf" srcId="{4FC2634D-5CD6-4837-B9A0-EF73BFA69530}" destId="{46665506-A43B-4CC6-88B0-2DC1518F1B00}" srcOrd="0" destOrd="0" presId="urn:microsoft.com/office/officeart/2005/8/layout/hierarchy1"/>
    <dgm:cxn modelId="{66E95397-27A5-4442-86FD-AED88A824EE0}" type="presOf" srcId="{D6904545-A49D-491C-9A49-9A07E3FBC094}" destId="{DE0E0C94-9A18-4BAF-ACDB-6F0954CC57BE}" srcOrd="0" destOrd="0" presId="urn:microsoft.com/office/officeart/2005/8/layout/hierarchy1"/>
    <dgm:cxn modelId="{F2A9C4B7-8152-4C82-AF99-79E8411EF20D}" srcId="{3AFC839D-0FDC-4F2D-B950-89C2E04E7FF3}" destId="{BF92F7E6-7DF8-486D-8167-DD492F05EE75}" srcOrd="1" destOrd="0" parTransId="{3F99EDF3-03D3-4432-8A6C-621D6E9293F8}" sibTransId="{2879D4D7-02DF-4A60-A9FC-22FFABFF9921}"/>
    <dgm:cxn modelId="{D34433BA-CB46-4C43-981A-81F1F4BC10D6}" type="presOf" srcId="{C8247E59-9C6B-4A8B-A679-F8637439836A}" destId="{F3B83F07-8BB2-4045-84EC-320DF2D7BB8A}" srcOrd="0" destOrd="0" presId="urn:microsoft.com/office/officeart/2005/8/layout/hierarchy1"/>
    <dgm:cxn modelId="{74C7A6E4-17FC-482B-95A1-909A7B3CF627}" srcId="{3AFC839D-0FDC-4F2D-B950-89C2E04E7FF3}" destId="{C8247E59-9C6B-4A8B-A679-F8637439836A}" srcOrd="2" destOrd="0" parTransId="{D7848440-5917-4539-9DC9-1AD90AEA84C6}" sibTransId="{D7B21206-8DDD-4851-9502-70BE5EDAA333}"/>
    <dgm:cxn modelId="{B319A2F2-F3A7-435E-8874-BD4EED468B18}" srcId="{3AFC839D-0FDC-4F2D-B950-89C2E04E7FF3}" destId="{4FC2634D-5CD6-4837-B9A0-EF73BFA69530}" srcOrd="0" destOrd="0" parTransId="{EC6531B7-1A9C-479C-BCB2-E8C9E1B77652}" sibTransId="{BCB0A7E0-82F8-402C-B34E-972780446577}"/>
    <dgm:cxn modelId="{6EE53FFD-0A78-45F6-BE04-6BCC9D454B85}" type="presParOf" srcId="{49648578-EF3F-4288-B4EB-D347E2925CB0}" destId="{90B58B10-392B-401B-AE1F-0552146F6D42}" srcOrd="0" destOrd="0" presId="urn:microsoft.com/office/officeart/2005/8/layout/hierarchy1"/>
    <dgm:cxn modelId="{6A416643-2A36-49D7-931F-917CA6BCB53F}" type="presParOf" srcId="{90B58B10-392B-401B-AE1F-0552146F6D42}" destId="{5F54B6E6-AE6D-4A3D-AFB1-B1ED8E37DB08}" srcOrd="0" destOrd="0" presId="urn:microsoft.com/office/officeart/2005/8/layout/hierarchy1"/>
    <dgm:cxn modelId="{196D9624-C583-4DAB-BD75-325CCAE7DCE5}" type="presParOf" srcId="{5F54B6E6-AE6D-4A3D-AFB1-B1ED8E37DB08}" destId="{ADCE4E0E-CDBC-40AC-9532-84379F1C1435}" srcOrd="0" destOrd="0" presId="urn:microsoft.com/office/officeart/2005/8/layout/hierarchy1"/>
    <dgm:cxn modelId="{B242892C-D23B-4856-85D4-263652DAD013}" type="presParOf" srcId="{5F54B6E6-AE6D-4A3D-AFB1-B1ED8E37DB08}" destId="{46665506-A43B-4CC6-88B0-2DC1518F1B00}" srcOrd="1" destOrd="0" presId="urn:microsoft.com/office/officeart/2005/8/layout/hierarchy1"/>
    <dgm:cxn modelId="{65D7BD89-8C9B-43B9-A623-CD16D2654CF4}" type="presParOf" srcId="{90B58B10-392B-401B-AE1F-0552146F6D42}" destId="{D5B5617A-2546-4BF4-8E93-85384974E911}" srcOrd="1" destOrd="0" presId="urn:microsoft.com/office/officeart/2005/8/layout/hierarchy1"/>
    <dgm:cxn modelId="{9A6F3CDD-4C74-4E72-9CC0-03A555F06B2D}" type="presParOf" srcId="{49648578-EF3F-4288-B4EB-D347E2925CB0}" destId="{E8D19991-2387-4D75-8A9F-B735DC0701A9}" srcOrd="1" destOrd="0" presId="urn:microsoft.com/office/officeart/2005/8/layout/hierarchy1"/>
    <dgm:cxn modelId="{1DE60A3F-7198-4FD6-B88A-A452FC55A70C}" type="presParOf" srcId="{E8D19991-2387-4D75-8A9F-B735DC0701A9}" destId="{A0BA4A58-01C1-4B7E-938B-F54FB2B5C846}" srcOrd="0" destOrd="0" presId="urn:microsoft.com/office/officeart/2005/8/layout/hierarchy1"/>
    <dgm:cxn modelId="{A28FB938-6E8E-49B8-AF4F-88B73EAD9964}" type="presParOf" srcId="{A0BA4A58-01C1-4B7E-938B-F54FB2B5C846}" destId="{EB82EF2F-4C9B-4B52-B2CD-5E5991BFC585}" srcOrd="0" destOrd="0" presId="urn:microsoft.com/office/officeart/2005/8/layout/hierarchy1"/>
    <dgm:cxn modelId="{C160C650-92A6-4E75-869B-34EFCD235A45}" type="presParOf" srcId="{A0BA4A58-01C1-4B7E-938B-F54FB2B5C846}" destId="{01759C36-9A9C-4E9C-8A8A-6A264C847208}" srcOrd="1" destOrd="0" presId="urn:microsoft.com/office/officeart/2005/8/layout/hierarchy1"/>
    <dgm:cxn modelId="{8150B35D-FD03-4D55-ACD8-72E052B0EAEF}" type="presParOf" srcId="{E8D19991-2387-4D75-8A9F-B735DC0701A9}" destId="{155BF4D5-5B91-4134-814E-B44C850DE758}" srcOrd="1" destOrd="0" presId="urn:microsoft.com/office/officeart/2005/8/layout/hierarchy1"/>
    <dgm:cxn modelId="{65865285-C314-4DE6-827D-A2A2716555D2}" type="presParOf" srcId="{49648578-EF3F-4288-B4EB-D347E2925CB0}" destId="{00F1E9AE-922C-4E45-B6C1-1EC65757E9BC}" srcOrd="2" destOrd="0" presId="urn:microsoft.com/office/officeart/2005/8/layout/hierarchy1"/>
    <dgm:cxn modelId="{21D952B9-A01F-4956-9D2F-42A4E85C209B}" type="presParOf" srcId="{00F1E9AE-922C-4E45-B6C1-1EC65757E9BC}" destId="{8A45156B-4A44-4CD6-8BF2-FD15E0CD52CE}" srcOrd="0" destOrd="0" presId="urn:microsoft.com/office/officeart/2005/8/layout/hierarchy1"/>
    <dgm:cxn modelId="{770BF1C4-35C4-4881-B427-82957A62CA85}" type="presParOf" srcId="{8A45156B-4A44-4CD6-8BF2-FD15E0CD52CE}" destId="{795F1FA6-E4DF-44D0-AF43-F4210C49AE30}" srcOrd="0" destOrd="0" presId="urn:microsoft.com/office/officeart/2005/8/layout/hierarchy1"/>
    <dgm:cxn modelId="{B29BE6A4-1B68-4F16-9C2F-C8CA17046BF9}" type="presParOf" srcId="{8A45156B-4A44-4CD6-8BF2-FD15E0CD52CE}" destId="{F3B83F07-8BB2-4045-84EC-320DF2D7BB8A}" srcOrd="1" destOrd="0" presId="urn:microsoft.com/office/officeart/2005/8/layout/hierarchy1"/>
    <dgm:cxn modelId="{30091F97-AA49-4E63-9E53-0BBBD46A97BB}" type="presParOf" srcId="{00F1E9AE-922C-4E45-B6C1-1EC65757E9BC}" destId="{A6D93F06-0655-4340-81D6-C51ABC482E07}" srcOrd="1" destOrd="0" presId="urn:microsoft.com/office/officeart/2005/8/layout/hierarchy1"/>
    <dgm:cxn modelId="{67EE4455-DCB8-4D53-BF67-6C550AD89A8E}" type="presParOf" srcId="{49648578-EF3F-4288-B4EB-D347E2925CB0}" destId="{E678C3A5-6DCC-4F36-95ED-887D58D096B9}" srcOrd="3" destOrd="0" presId="urn:microsoft.com/office/officeart/2005/8/layout/hierarchy1"/>
    <dgm:cxn modelId="{1C31535D-8E14-4B86-B8D2-2EBC2DBE9ABC}" type="presParOf" srcId="{E678C3A5-6DCC-4F36-95ED-887D58D096B9}" destId="{FD8E68A0-0B64-4CD6-8890-43DF5E66B345}" srcOrd="0" destOrd="0" presId="urn:microsoft.com/office/officeart/2005/8/layout/hierarchy1"/>
    <dgm:cxn modelId="{D399E2A9-F335-44F9-98C2-DB1B4EBFC807}" type="presParOf" srcId="{FD8E68A0-0B64-4CD6-8890-43DF5E66B345}" destId="{02600E55-7269-4693-B1E0-A86521202ADB}" srcOrd="0" destOrd="0" presId="urn:microsoft.com/office/officeart/2005/8/layout/hierarchy1"/>
    <dgm:cxn modelId="{71ACC20C-0554-4236-839E-54016644A1BD}" type="presParOf" srcId="{FD8E68A0-0B64-4CD6-8890-43DF5E66B345}" destId="{DE0E0C94-9A18-4BAF-ACDB-6F0954CC57BE}" srcOrd="1" destOrd="0" presId="urn:microsoft.com/office/officeart/2005/8/layout/hierarchy1"/>
    <dgm:cxn modelId="{B79F2374-740C-4BD0-83D8-6AD8538CC1FA}" type="presParOf" srcId="{E678C3A5-6DCC-4F36-95ED-887D58D096B9}" destId="{A3D259E9-F499-429F-BF35-08DCAF3CFB0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E4E0E-CDBC-40AC-9532-84379F1C1435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65506-A43B-4CC6-88B0-2DC1518F1B00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/>
            <a:t>실생활과 밀접한 항공 정보 활용</a:t>
          </a:r>
          <a:endParaRPr lang="en-US" sz="2300" kern="1200"/>
        </a:p>
      </dsp:txBody>
      <dsp:txXfrm>
        <a:off x="299702" y="1282093"/>
        <a:ext cx="2200851" cy="1366505"/>
      </dsp:txXfrm>
    </dsp:sp>
    <dsp:sp modelId="{EB82EF2F-4C9B-4B52-B2CD-5E5991BFC585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59C36-9A9C-4E9C-8A8A-6A264C847208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/>
            <a:t>실시간 데이터 제공</a:t>
          </a:r>
          <a:endParaRPr lang="en-US" sz="2300" kern="1200"/>
        </a:p>
      </dsp:txBody>
      <dsp:txXfrm>
        <a:off x="3093555" y="1282093"/>
        <a:ext cx="2200851" cy="1366505"/>
      </dsp:txXfrm>
    </dsp:sp>
    <dsp:sp modelId="{795F1FA6-E4DF-44D0-AF43-F4210C49AE30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B83F07-8BB2-4045-84EC-320DF2D7BB8A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 dirty="0" err="1"/>
            <a:t>공공데이터포털의</a:t>
          </a:r>
          <a:r>
            <a:rPr lang="ko-KR" sz="2300" kern="1200" dirty="0"/>
            <a:t> 신뢰성 높은 </a:t>
          </a:r>
          <a:r>
            <a:rPr lang="en-US" sz="2300" kern="1200" dirty="0"/>
            <a:t>API</a:t>
          </a:r>
        </a:p>
      </dsp:txBody>
      <dsp:txXfrm>
        <a:off x="5887408" y="1282093"/>
        <a:ext cx="2200851" cy="1366505"/>
      </dsp:txXfrm>
    </dsp:sp>
    <dsp:sp modelId="{02600E55-7269-4693-B1E0-A86521202ADB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E0C94-9A18-4BAF-ACDB-6F0954CC57BE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300" kern="1200"/>
            <a:t>실시간 항공편 정보를 조회할 수 있는 홈페이지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536" y="1069849"/>
            <a:ext cx="9960864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57600" y="384048"/>
            <a:ext cx="79248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8844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8720"/>
            <a:ext cx="109728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1137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2286001"/>
            <a:ext cx="103632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353312"/>
            <a:ext cx="103632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298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304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936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93976"/>
            <a:ext cx="5386917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7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93976"/>
            <a:ext cx="5389033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95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729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19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0"/>
            <a:ext cx="9960864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88" y="1371600"/>
            <a:ext cx="6230112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034528" y="1371600"/>
            <a:ext cx="3511296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130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855464"/>
            <a:ext cx="4291584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157216" y="1216152"/>
            <a:ext cx="6169152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" y="1216152"/>
            <a:ext cx="4291584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228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18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424416" y="356617"/>
            <a:ext cx="2157984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56617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231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621536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white">
          <a:xfrm>
            <a:off x="101600" y="1066800"/>
            <a:ext cx="3454400" cy="1219200"/>
          </a:xfrm>
          <a:prstGeom prst="rect">
            <a:avLst/>
          </a:prstGeom>
          <a:blipFill dpi="0" rotWithShape="1">
            <a:blip r:embed="rId1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11546538" y="5872450"/>
            <a:ext cx="723900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 flipH="1" flipV="1">
            <a:off x="203200" y="4724401"/>
            <a:ext cx="567267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711200" y="152401"/>
            <a:ext cx="922867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62259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1161897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3560064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12192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7717536" y="1069848"/>
            <a:ext cx="4474464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82016" y="-103188"/>
            <a:ext cx="5466816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21536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188720"/>
            <a:ext cx="109728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408" y="6364225"/>
            <a:ext cx="2913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F231393D-B371-401C-8E55-0AAFC2529F0D}" type="datetimeFigureOut">
              <a:rPr lang="ko-KR" altLang="en-US" smtClean="0"/>
              <a:t>2025-06-06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0064" y="6364225"/>
            <a:ext cx="708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536" y="6364225"/>
            <a:ext cx="81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DA0900D-85A5-4101-8681-D0537E3E65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70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1DFA3-054B-468F-9095-D18288AE3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69849"/>
            <a:ext cx="11887200" cy="1470025"/>
          </a:xfrm>
        </p:spPr>
        <p:txBody>
          <a:bodyPr/>
          <a:lstStyle/>
          <a:p>
            <a:pPr marL="0" indent="0"/>
            <a:r>
              <a:rPr lang="en-US" altLang="ko-KR" b="1" dirty="0" err="1">
                <a:solidFill>
                  <a:srgbClr val="363636"/>
                </a:solidFill>
              </a:rPr>
              <a:t>공항</a:t>
            </a:r>
            <a:r>
              <a:rPr lang="en-US" altLang="ko-KR" b="1" dirty="0">
                <a:solidFill>
                  <a:srgbClr val="363636"/>
                </a:solidFill>
              </a:rPr>
              <a:t> </a:t>
            </a:r>
            <a:r>
              <a:rPr lang="en-US" altLang="ko-KR" b="1" dirty="0" err="1">
                <a:solidFill>
                  <a:srgbClr val="363636"/>
                </a:solidFill>
              </a:rPr>
              <a:t>도착</a:t>
            </a:r>
            <a:r>
              <a:rPr lang="en-US" altLang="ko-KR" b="1" dirty="0">
                <a:solidFill>
                  <a:srgbClr val="363636"/>
                </a:solidFill>
              </a:rPr>
              <a:t> </a:t>
            </a:r>
            <a:r>
              <a:rPr lang="en-US" altLang="ko-KR" b="1" dirty="0" err="1">
                <a:solidFill>
                  <a:srgbClr val="363636"/>
                </a:solidFill>
              </a:rPr>
              <a:t>항공편</a:t>
            </a:r>
            <a:r>
              <a:rPr lang="en-US" altLang="ko-KR" b="1" dirty="0">
                <a:solidFill>
                  <a:srgbClr val="363636"/>
                </a:solidFill>
              </a:rPr>
              <a:t> </a:t>
            </a:r>
            <a:r>
              <a:rPr lang="en-US" altLang="ko-KR" b="1" dirty="0" err="1">
                <a:solidFill>
                  <a:srgbClr val="363636"/>
                </a:solidFill>
              </a:rPr>
              <a:t>정보</a:t>
            </a:r>
            <a:r>
              <a:rPr lang="en-US" altLang="ko-KR" b="1" dirty="0">
                <a:solidFill>
                  <a:srgbClr val="363636"/>
                </a:solidFill>
              </a:rPr>
              <a:t> API </a:t>
            </a:r>
            <a:r>
              <a:rPr lang="en-US" altLang="ko-KR" b="1" dirty="0" err="1">
                <a:solidFill>
                  <a:srgbClr val="363636"/>
                </a:solidFill>
              </a:rPr>
              <a:t>기반</a:t>
            </a:r>
            <a:r>
              <a:rPr lang="en-US" altLang="ko-KR" b="1" dirty="0">
                <a:solidFill>
                  <a:srgbClr val="363636"/>
                </a:solidFill>
              </a:rPr>
              <a:t> 웹 </a:t>
            </a:r>
            <a:r>
              <a:rPr lang="en-US" altLang="ko-KR" b="1" dirty="0" err="1">
                <a:solidFill>
                  <a:srgbClr val="363636"/>
                </a:solidFill>
              </a:rPr>
              <a:t>프로젝트</a:t>
            </a:r>
            <a:endParaRPr lang="en-US" altLang="ko-KR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4ADDAC-8FC5-4B4A-8573-B6B9205C0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5219700"/>
            <a:ext cx="7924800" cy="1022096"/>
          </a:xfrm>
        </p:spPr>
        <p:txBody>
          <a:bodyPr>
            <a:normAutofit/>
          </a:bodyPr>
          <a:lstStyle/>
          <a:p>
            <a:pPr algn="r"/>
            <a:r>
              <a:rPr lang="en-US" altLang="ko-KR" dirty="0"/>
              <a:t>202230119 </a:t>
            </a:r>
            <a:r>
              <a:rPr lang="ko-KR" altLang="en-US" dirty="0" err="1"/>
              <a:t>엄태훈</a:t>
            </a:r>
            <a:endParaRPr lang="en-US" altLang="ko-KR" dirty="0"/>
          </a:p>
          <a:p>
            <a:pPr algn="r"/>
            <a:r>
              <a:rPr lang="ko-KR" altLang="en-US" dirty="0" err="1"/>
              <a:t>홍진택</a:t>
            </a:r>
            <a:endParaRPr lang="en-US" altLang="ko-KR" dirty="0"/>
          </a:p>
          <a:p>
            <a:pPr algn="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3653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공항</a:t>
            </a:r>
            <a:r>
              <a:rPr dirty="0"/>
              <a:t> </a:t>
            </a:r>
            <a:r>
              <a:rPr dirty="0" err="1"/>
              <a:t>도착</a:t>
            </a:r>
            <a:r>
              <a:rPr dirty="0"/>
              <a:t> </a:t>
            </a:r>
            <a:r>
              <a:rPr dirty="0" err="1"/>
              <a:t>항공편</a:t>
            </a:r>
            <a:r>
              <a:rPr dirty="0"/>
              <a:t> </a:t>
            </a:r>
            <a:r>
              <a:rPr dirty="0" err="1"/>
              <a:t>정보</a:t>
            </a:r>
            <a:r>
              <a:rPr dirty="0"/>
              <a:t> </a:t>
            </a:r>
            <a:r>
              <a:rPr dirty="0" err="1"/>
              <a:t>API를</a:t>
            </a:r>
            <a:r>
              <a:rPr dirty="0"/>
              <a:t> </a:t>
            </a:r>
            <a:r>
              <a:rPr dirty="0" err="1"/>
              <a:t>선택한</a:t>
            </a:r>
            <a:r>
              <a:rPr dirty="0"/>
              <a:t> </a:t>
            </a:r>
            <a:r>
              <a:rPr dirty="0" err="1"/>
              <a:t>이유</a:t>
            </a:r>
            <a:endParaRPr dirty="0"/>
          </a:p>
          <a:p>
            <a:r>
              <a:rPr dirty="0"/>
              <a:t>2. API </a:t>
            </a:r>
            <a:r>
              <a:rPr dirty="0" err="1"/>
              <a:t>키를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r>
              <a:rPr dirty="0" err="1"/>
              <a:t>웹페이지</a:t>
            </a:r>
            <a:r>
              <a:rPr dirty="0"/>
              <a:t> </a:t>
            </a:r>
            <a:r>
              <a:rPr dirty="0" err="1"/>
              <a:t>소개</a:t>
            </a:r>
            <a:endParaRPr dirty="0"/>
          </a:p>
          <a:p>
            <a:r>
              <a:rPr dirty="0"/>
              <a:t>3. </a:t>
            </a:r>
            <a:r>
              <a:rPr dirty="0" err="1"/>
              <a:t>프로젝트</a:t>
            </a:r>
            <a:r>
              <a:rPr dirty="0"/>
              <a:t> </a:t>
            </a:r>
            <a:r>
              <a:rPr lang="ko-KR" altLang="en-US" dirty="0"/>
              <a:t>구조</a:t>
            </a:r>
            <a:endParaRPr lang="en-US" altLang="ko-KR" dirty="0"/>
          </a:p>
          <a:p>
            <a:r>
              <a:rPr dirty="0"/>
              <a:t>4.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고도화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설명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EA284-5FD0-4B5F-84FB-B2EE92A4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altLang="ko-KR" sz="4000">
                <a:solidFill>
                  <a:srgbClr val="FFFFFF"/>
                </a:solidFill>
              </a:rPr>
              <a:t>1. API </a:t>
            </a:r>
            <a:r>
              <a:rPr lang="ko-KR" altLang="en-US" sz="4000">
                <a:solidFill>
                  <a:srgbClr val="FFFFFF"/>
                </a:solidFill>
              </a:rPr>
              <a:t>선택 이유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E075FFCA-11F3-DA4D-C069-D1FFAA4346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51496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132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930F9-028D-4E7B-B602-41770E9C4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API </a:t>
            </a:r>
            <a:r>
              <a:rPr lang="ko-KR" altLang="en-US" dirty="0"/>
              <a:t>기반 웹페이지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0CC1FE-173E-4F37-93AF-9626ED5D0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0775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실시간 도착 항공편 정보를 웹에서 시각화</a:t>
            </a:r>
          </a:p>
          <a:p>
            <a:r>
              <a:rPr lang="ko-KR" altLang="en-US" sz="3600" dirty="0"/>
              <a:t>사용자 입력 기반으로 항공사</a:t>
            </a:r>
            <a:r>
              <a:rPr lang="en-US" altLang="ko-KR" sz="3600" dirty="0"/>
              <a:t>, </a:t>
            </a:r>
            <a:r>
              <a:rPr lang="ko-KR" altLang="en-US" sz="3600" dirty="0"/>
              <a:t>출발지 등 조건 검색</a:t>
            </a:r>
          </a:p>
          <a:p>
            <a:r>
              <a:rPr lang="en-US" altLang="ko-KR" sz="3600" dirty="0"/>
              <a:t> XML </a:t>
            </a:r>
            <a:r>
              <a:rPr lang="ko-KR" altLang="en-US" sz="3600" dirty="0"/>
              <a:t>데이터를 </a:t>
            </a:r>
            <a:r>
              <a:rPr lang="en-US" altLang="ko-KR" sz="3600" dirty="0"/>
              <a:t>JSON</a:t>
            </a:r>
            <a:r>
              <a:rPr lang="ko-KR" altLang="en-US" sz="3600" dirty="0"/>
              <a:t>으로 변환 후 </a:t>
            </a:r>
            <a:r>
              <a:rPr lang="en-US" altLang="ko-KR" sz="3600" dirty="0"/>
              <a:t>UI</a:t>
            </a:r>
            <a:r>
              <a:rPr lang="ko-KR" altLang="en-US" sz="3600" dirty="0"/>
              <a:t>로 표시</a:t>
            </a:r>
            <a:endParaRPr lang="en-US" altLang="ko-KR" sz="36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319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BB569-80D3-4E03-BE91-A102C214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프로젝트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3B4D65-40B8-441A-B0D0-1EB38BB64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" y="762000"/>
            <a:ext cx="12103100" cy="6096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ko-KR" dirty="0"/>
              <a:t>airport-flight-info/</a:t>
            </a:r>
          </a:p>
          <a:p>
            <a:pPr marL="0" indent="0">
              <a:buNone/>
            </a:pPr>
            <a:r>
              <a:rPr lang="en-US" altLang="ko-KR" dirty="0"/>
              <a:t>│</a:t>
            </a:r>
          </a:p>
          <a:p>
            <a:pPr marL="0" indent="0">
              <a:buNone/>
            </a:pPr>
            <a:r>
              <a:rPr lang="en-US" altLang="ko-KR" dirty="0"/>
              <a:t>├── data-generator/                # </a:t>
            </a:r>
            <a:r>
              <a:rPr lang="ko-KR" altLang="en-US" dirty="0"/>
              <a:t>항공편 데이터를 </a:t>
            </a:r>
            <a:r>
              <a:rPr lang="en-US" altLang="ko-KR" dirty="0" err="1"/>
              <a:t>OpenAPI</a:t>
            </a:r>
            <a:r>
              <a:rPr lang="ko-KR" altLang="en-US" dirty="0"/>
              <a:t>로부터 주기적으로 가져오는 서비스</a:t>
            </a:r>
          </a:p>
          <a:p>
            <a:pPr marL="0" indent="0">
              <a:buNone/>
            </a:pPr>
            <a:r>
              <a:rPr lang="ko-KR" altLang="en-US" dirty="0"/>
              <a:t>│   ├── </a:t>
            </a:r>
            <a:r>
              <a:rPr lang="en-US" altLang="ko-KR" dirty="0" err="1"/>
              <a:t>Dockerfile</a:t>
            </a:r>
            <a:r>
              <a:rPr lang="en-US" altLang="ko-KR" dirty="0"/>
              <a:t>                # data-generator </a:t>
            </a:r>
            <a:r>
              <a:rPr lang="ko-KR" altLang="en-US" dirty="0"/>
              <a:t>컨테이너 빌드용 </a:t>
            </a:r>
            <a:r>
              <a:rPr lang="ko-KR" altLang="en-US" dirty="0" err="1"/>
              <a:t>도커파일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│   ├── </a:t>
            </a:r>
            <a:r>
              <a:rPr lang="en-US" altLang="ko-KR" dirty="0"/>
              <a:t>entrypoint.sh             # </a:t>
            </a:r>
            <a:r>
              <a:rPr lang="ko-KR" altLang="en-US" dirty="0"/>
              <a:t>컨테이너 실행 시 </a:t>
            </a:r>
            <a:r>
              <a:rPr lang="en-US" altLang="ko-KR" dirty="0"/>
              <a:t>fetch_flights.py</a:t>
            </a:r>
            <a:r>
              <a:rPr lang="ko-KR" altLang="en-US" dirty="0"/>
              <a:t>를 주기적으로 실행하는 스크립트</a:t>
            </a:r>
          </a:p>
          <a:p>
            <a:pPr marL="0" indent="0">
              <a:buNone/>
            </a:pPr>
            <a:r>
              <a:rPr lang="ko-KR" altLang="en-US" dirty="0"/>
              <a:t>│   └── </a:t>
            </a:r>
            <a:r>
              <a:rPr lang="en-US" altLang="ko-KR" dirty="0"/>
              <a:t>fetch_flights.py          # </a:t>
            </a:r>
            <a:r>
              <a:rPr lang="ko-KR" altLang="en-US" dirty="0" err="1"/>
              <a:t>공공데이터포털</a:t>
            </a:r>
            <a:r>
              <a:rPr lang="ko-KR" altLang="en-US" dirty="0"/>
              <a:t> 항공편 </a:t>
            </a:r>
            <a:r>
              <a:rPr lang="en-US" altLang="ko-KR" dirty="0"/>
              <a:t>API</a:t>
            </a:r>
            <a:r>
              <a:rPr lang="ko-KR" altLang="en-US" dirty="0"/>
              <a:t>를 호출하고 결과를 </a:t>
            </a:r>
            <a:r>
              <a:rPr lang="en-US" altLang="ko-KR" dirty="0" err="1"/>
              <a:t>flights.json</a:t>
            </a:r>
            <a:r>
              <a:rPr lang="ko-KR" altLang="en-US" dirty="0"/>
              <a:t>에 저장하는 핵심 </a:t>
            </a:r>
            <a:r>
              <a:rPr lang="ko-KR" altLang="en-US" dirty="0" err="1"/>
              <a:t>파이썬</a:t>
            </a:r>
            <a:r>
              <a:rPr lang="ko-KR" altLang="en-US" dirty="0"/>
              <a:t> 스크립트</a:t>
            </a:r>
          </a:p>
          <a:p>
            <a:pPr marL="0" indent="0">
              <a:buNone/>
            </a:pPr>
            <a:r>
              <a:rPr lang="ko-KR" altLang="en-US" dirty="0"/>
              <a:t>│</a:t>
            </a:r>
          </a:p>
          <a:p>
            <a:pPr marL="0" indent="0">
              <a:buNone/>
            </a:pPr>
            <a:r>
              <a:rPr lang="ko-KR" altLang="en-US" dirty="0"/>
              <a:t>├── </a:t>
            </a:r>
            <a:r>
              <a:rPr lang="en-US" altLang="ko-KR" dirty="0"/>
              <a:t>webserver/                    # HTML </a:t>
            </a:r>
            <a:r>
              <a:rPr lang="ko-KR" altLang="en-US" dirty="0"/>
              <a:t>페이지를 통해 항공편 데이터를 보여주는 웹서버 구성</a:t>
            </a:r>
          </a:p>
          <a:p>
            <a:pPr marL="0" indent="0">
              <a:buNone/>
            </a:pPr>
            <a:r>
              <a:rPr lang="ko-KR" altLang="en-US" dirty="0"/>
              <a:t>│   ├── </a:t>
            </a:r>
            <a:r>
              <a:rPr lang="en-US" altLang="ko-KR" dirty="0" err="1"/>
              <a:t>Dockerfile</a:t>
            </a:r>
            <a:r>
              <a:rPr lang="en-US" altLang="ko-KR" dirty="0"/>
              <a:t>                # </a:t>
            </a:r>
            <a:r>
              <a:rPr lang="en-US" altLang="ko-KR" dirty="0" err="1"/>
              <a:t>nginx</a:t>
            </a:r>
            <a:r>
              <a:rPr lang="en-US" altLang="ko-KR" dirty="0"/>
              <a:t> </a:t>
            </a:r>
            <a:r>
              <a:rPr lang="ko-KR" altLang="en-US" dirty="0"/>
              <a:t>기반 웹서버를 구성하기 위한 </a:t>
            </a:r>
            <a:r>
              <a:rPr lang="ko-KR" altLang="en-US" dirty="0" err="1"/>
              <a:t>도커파일</a:t>
            </a:r>
            <a:endParaRPr lang="ko-KR" altLang="en-US" dirty="0"/>
          </a:p>
          <a:p>
            <a:pPr marL="0" indent="0">
              <a:buNone/>
            </a:pPr>
            <a:r>
              <a:rPr lang="ko-KR" altLang="en-US" dirty="0"/>
              <a:t>│   ├── </a:t>
            </a:r>
            <a:r>
              <a:rPr lang="en-US" altLang="ko-KR" dirty="0" err="1"/>
              <a:t>default.conf</a:t>
            </a:r>
            <a:r>
              <a:rPr lang="en-US" altLang="ko-KR" dirty="0"/>
              <a:t>              # </a:t>
            </a:r>
            <a:r>
              <a:rPr lang="en-US" altLang="ko-KR" dirty="0" err="1"/>
              <a:t>nginx</a:t>
            </a:r>
            <a:r>
              <a:rPr lang="en-US" altLang="ko-KR" dirty="0"/>
              <a:t> </a:t>
            </a:r>
            <a:r>
              <a:rPr lang="ko-KR" altLang="en-US" dirty="0"/>
              <a:t>설정 파일로</a:t>
            </a:r>
            <a:r>
              <a:rPr lang="en-US" altLang="ko-KR" dirty="0"/>
              <a:t>, HTML </a:t>
            </a:r>
            <a:r>
              <a:rPr lang="ko-KR" altLang="en-US" dirty="0"/>
              <a:t>파일을 서비스하기 위한 포트 및 위치 설정 포함</a:t>
            </a:r>
          </a:p>
          <a:p>
            <a:pPr marL="0" indent="0">
              <a:buNone/>
            </a:pPr>
            <a:r>
              <a:rPr lang="ko-KR" altLang="en-US" dirty="0"/>
              <a:t>│   └── </a:t>
            </a:r>
            <a:r>
              <a:rPr lang="en-US" altLang="ko-KR" dirty="0"/>
              <a:t>index.html                # </a:t>
            </a:r>
            <a:r>
              <a:rPr lang="ko-KR" altLang="en-US" dirty="0"/>
              <a:t>사용자에게 항공편 정보를 시각적으로 보여주는 </a:t>
            </a:r>
            <a:r>
              <a:rPr lang="ko-KR" altLang="en-US" dirty="0" err="1"/>
              <a:t>프론트엔드</a:t>
            </a:r>
            <a:r>
              <a:rPr lang="ko-KR" altLang="en-US" dirty="0"/>
              <a:t> </a:t>
            </a:r>
            <a:r>
              <a:rPr lang="en-US" altLang="ko-KR" dirty="0"/>
              <a:t>HTML </a:t>
            </a:r>
            <a:r>
              <a:rPr lang="ko-KR" altLang="en-US" dirty="0"/>
              <a:t>파일</a:t>
            </a:r>
          </a:p>
          <a:p>
            <a:pPr marL="0" indent="0">
              <a:buNone/>
            </a:pPr>
            <a:r>
              <a:rPr lang="ko-KR" altLang="en-US" dirty="0"/>
              <a:t>│</a:t>
            </a:r>
          </a:p>
          <a:p>
            <a:pPr marL="0" indent="0">
              <a:buNone/>
            </a:pPr>
            <a:r>
              <a:rPr lang="ko-KR" altLang="en-US" dirty="0"/>
              <a:t>├── </a:t>
            </a:r>
            <a:r>
              <a:rPr lang="en-US" altLang="ko-KR" dirty="0"/>
              <a:t>shared-data/                  # data-generator</a:t>
            </a:r>
            <a:r>
              <a:rPr lang="ko-KR" altLang="en-US" dirty="0"/>
              <a:t>와 </a:t>
            </a:r>
            <a:r>
              <a:rPr lang="en-US" altLang="ko-KR" dirty="0"/>
              <a:t>webserver</a:t>
            </a:r>
            <a:r>
              <a:rPr lang="ko-KR" altLang="en-US" dirty="0"/>
              <a:t>가 공유하는 볼륨 디렉토리</a:t>
            </a:r>
          </a:p>
          <a:p>
            <a:pPr marL="0" indent="0">
              <a:buNone/>
            </a:pPr>
            <a:r>
              <a:rPr lang="ko-KR" altLang="en-US" dirty="0"/>
              <a:t>│   └── </a:t>
            </a:r>
            <a:r>
              <a:rPr lang="en-US" altLang="ko-KR" dirty="0" err="1"/>
              <a:t>flights.json</a:t>
            </a:r>
            <a:r>
              <a:rPr lang="en-US" altLang="ko-KR" dirty="0"/>
              <a:t>              # </a:t>
            </a:r>
            <a:r>
              <a:rPr lang="ko-KR" altLang="en-US" dirty="0"/>
              <a:t>실시간 항공편 데이터가 저장되는 </a:t>
            </a:r>
            <a:r>
              <a:rPr lang="en-US" altLang="ko-KR" dirty="0"/>
              <a:t>JSON </a:t>
            </a:r>
            <a:r>
              <a:rPr lang="ko-KR" altLang="en-US" dirty="0"/>
              <a:t>파일 </a:t>
            </a:r>
            <a:r>
              <a:rPr lang="en-US" altLang="ko-KR" dirty="0"/>
              <a:t>(data-generator</a:t>
            </a:r>
            <a:r>
              <a:rPr lang="ko-KR" altLang="en-US" dirty="0"/>
              <a:t>에서 생성</a:t>
            </a:r>
            <a:r>
              <a:rPr lang="en-US" altLang="ko-KR" dirty="0"/>
              <a:t>, webserver</a:t>
            </a:r>
            <a:r>
              <a:rPr lang="ko-KR" altLang="en-US" dirty="0"/>
              <a:t>에서 사용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│</a:t>
            </a:r>
          </a:p>
          <a:p>
            <a:pPr marL="0" indent="0">
              <a:buNone/>
            </a:pPr>
            <a:r>
              <a:rPr lang="en-US" altLang="ko-KR" dirty="0"/>
              <a:t>├── docker-</a:t>
            </a:r>
            <a:r>
              <a:rPr lang="en-US" altLang="ko-KR" dirty="0" err="1"/>
              <a:t>compose.yml</a:t>
            </a:r>
            <a:r>
              <a:rPr lang="en-US" altLang="ko-KR" dirty="0"/>
              <a:t>            # </a:t>
            </a:r>
            <a:r>
              <a:rPr lang="ko-KR" altLang="en-US" dirty="0"/>
              <a:t>전체 서비스를 </a:t>
            </a:r>
            <a:r>
              <a:rPr lang="ko-KR" altLang="en-US" dirty="0" err="1"/>
              <a:t>도커</a:t>
            </a:r>
            <a:r>
              <a:rPr lang="ko-KR" altLang="en-US" dirty="0"/>
              <a:t> </a:t>
            </a:r>
            <a:r>
              <a:rPr lang="ko-KR" altLang="en-US" dirty="0" err="1"/>
              <a:t>컴포즈로</a:t>
            </a:r>
            <a:r>
              <a:rPr lang="ko-KR" altLang="en-US" dirty="0"/>
              <a:t> 한 번에 실행하기 위한 설정 파일</a:t>
            </a:r>
          </a:p>
          <a:p>
            <a:pPr marL="0" indent="0">
              <a:buNone/>
            </a:pPr>
            <a:r>
              <a:rPr lang="ko-KR" altLang="en-US" dirty="0"/>
              <a:t>│</a:t>
            </a:r>
          </a:p>
          <a:p>
            <a:pPr marL="0" indent="0">
              <a:buNone/>
            </a:pPr>
            <a:r>
              <a:rPr lang="ko-KR" altLang="en-US" dirty="0"/>
              <a:t>├── </a:t>
            </a:r>
            <a:r>
              <a:rPr lang="en-US" altLang="ko-KR" dirty="0"/>
              <a:t>README.md                     # </a:t>
            </a:r>
            <a:r>
              <a:rPr lang="ko-KR" altLang="en-US" dirty="0"/>
              <a:t>프로젝트 소개</a:t>
            </a:r>
            <a:r>
              <a:rPr lang="en-US" altLang="ko-KR" dirty="0"/>
              <a:t>, </a:t>
            </a:r>
            <a:r>
              <a:rPr lang="ko-KR" altLang="en-US" dirty="0"/>
              <a:t>실행 방법</a:t>
            </a:r>
            <a:r>
              <a:rPr lang="en-US" altLang="ko-KR" dirty="0"/>
              <a:t>, </a:t>
            </a:r>
            <a:r>
              <a:rPr lang="ko-KR" altLang="en-US" dirty="0"/>
              <a:t>구조 설명 등이 포함된 문서</a:t>
            </a:r>
          </a:p>
          <a:p>
            <a:pPr marL="0" indent="0">
              <a:buNone/>
            </a:pPr>
            <a:r>
              <a:rPr lang="ko-KR" altLang="en-US" dirty="0"/>
              <a:t>│</a:t>
            </a:r>
          </a:p>
          <a:p>
            <a:pPr marL="0" indent="0">
              <a:buNone/>
            </a:pPr>
            <a:r>
              <a:rPr lang="ko-KR" altLang="en-US" dirty="0"/>
              <a:t>└── </a:t>
            </a:r>
            <a:r>
              <a:rPr lang="en-US" altLang="ko-KR" dirty="0"/>
              <a:t>update.sh (</a:t>
            </a:r>
            <a:r>
              <a:rPr lang="ko-KR" altLang="en-US" dirty="0"/>
              <a:t>선택적</a:t>
            </a:r>
            <a:r>
              <a:rPr lang="en-US" altLang="ko-KR" dirty="0"/>
              <a:t>)           # </a:t>
            </a:r>
            <a:r>
              <a:rPr lang="en-US" altLang="ko-KR" dirty="0" err="1"/>
              <a:t>flights.json</a:t>
            </a:r>
            <a:r>
              <a:rPr lang="ko-KR" altLang="en-US" dirty="0"/>
              <a:t>을 수동으로 업데이트하거나 테스트할 수 있는 스크립트 </a:t>
            </a:r>
            <a:r>
              <a:rPr lang="en-US" altLang="ko-KR" dirty="0"/>
              <a:t>(</a:t>
            </a:r>
            <a:r>
              <a:rPr lang="ko-KR" altLang="en-US" dirty="0"/>
              <a:t>필요 시 사용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25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</a:t>
            </a:r>
            <a:r>
              <a:rPr lang="ko-KR" altLang="en-US" b="1" dirty="0"/>
              <a:t>개선 및 고도화 작업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ko-KR" b="1" dirty="0"/>
              <a:t>1.</a:t>
            </a:r>
            <a:r>
              <a:rPr lang="ko-KR" altLang="en-US" b="1" dirty="0"/>
              <a:t>검색 필터 기능 강화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설명</a:t>
            </a:r>
            <a:r>
              <a:rPr lang="en-US" altLang="ko-KR" b="1" dirty="0"/>
              <a:t>: </a:t>
            </a:r>
            <a:r>
              <a:rPr lang="ko-KR" altLang="en-US" b="1" dirty="0"/>
              <a:t>항공사</a:t>
            </a:r>
            <a:r>
              <a:rPr lang="en-US" altLang="ko-KR" b="1" dirty="0"/>
              <a:t>, </a:t>
            </a:r>
            <a:r>
              <a:rPr lang="ko-KR" altLang="en-US" b="1" dirty="0" err="1"/>
              <a:t>편명</a:t>
            </a:r>
            <a:r>
              <a:rPr lang="en-US" altLang="ko-KR" b="1" dirty="0"/>
              <a:t>, </a:t>
            </a:r>
            <a:r>
              <a:rPr lang="ko-KR" altLang="en-US" b="1" dirty="0"/>
              <a:t>출발지</a:t>
            </a:r>
            <a:r>
              <a:rPr lang="en-US" altLang="ko-KR" b="1" dirty="0"/>
              <a:t>, </a:t>
            </a:r>
            <a:r>
              <a:rPr lang="ko-KR" altLang="en-US" b="1" dirty="0"/>
              <a:t>도착 예정 시간</a:t>
            </a:r>
            <a:r>
              <a:rPr lang="en-US" altLang="ko-KR" b="1" dirty="0"/>
              <a:t>, </a:t>
            </a:r>
            <a:r>
              <a:rPr lang="ko-KR" altLang="en-US" b="1" dirty="0"/>
              <a:t>터미널 등 다양한 조건으로 검색할 수 있도록 기능 확장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기술</a:t>
            </a:r>
            <a:r>
              <a:rPr lang="en-US" altLang="ko-KR" b="1" dirty="0"/>
              <a:t>: JavaScript</a:t>
            </a:r>
            <a:r>
              <a:rPr lang="ko-KR" altLang="en-US" b="1" dirty="0"/>
              <a:t>에서 다중 조건 필터 구현 또는 </a:t>
            </a:r>
            <a:r>
              <a:rPr lang="en-US" altLang="ko-KR" b="1" dirty="0"/>
              <a:t>API </a:t>
            </a:r>
            <a:r>
              <a:rPr lang="ko-KR" altLang="en-US" b="1" dirty="0"/>
              <a:t>요청 시 </a:t>
            </a:r>
            <a:r>
              <a:rPr lang="ko-KR" altLang="en-US" b="1" dirty="0" err="1"/>
              <a:t>조건값</a:t>
            </a:r>
            <a:r>
              <a:rPr lang="ko-KR" altLang="en-US" b="1" dirty="0"/>
              <a:t> 전달</a:t>
            </a:r>
          </a:p>
          <a:p>
            <a:endParaRPr lang="ko-KR" altLang="en-US" b="1" dirty="0"/>
          </a:p>
          <a:p>
            <a:pPr marL="0" indent="0">
              <a:buNone/>
            </a:pPr>
            <a:r>
              <a:rPr lang="en-US" altLang="ko-KR" b="1" dirty="0"/>
              <a:t>2. </a:t>
            </a:r>
            <a:r>
              <a:rPr lang="ko-KR" altLang="en-US" b="1" dirty="0" err="1"/>
              <a:t>이지네이션</a:t>
            </a:r>
            <a:r>
              <a:rPr lang="ko-KR" altLang="en-US" b="1" dirty="0"/>
              <a:t> 기능 추가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설명</a:t>
            </a:r>
            <a:r>
              <a:rPr lang="en-US" altLang="ko-KR" b="1" dirty="0"/>
              <a:t>: </a:t>
            </a:r>
            <a:r>
              <a:rPr lang="ko-KR" altLang="en-US" b="1" dirty="0"/>
              <a:t>항공편 데이터가 많을 경우 페이지를 나누어 보여주어 사용자 피로도 감소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기술</a:t>
            </a:r>
            <a:r>
              <a:rPr lang="en-US" altLang="ko-KR" b="1" dirty="0"/>
              <a:t>: JavaScript</a:t>
            </a:r>
            <a:r>
              <a:rPr lang="ko-KR" altLang="en-US" b="1" dirty="0"/>
              <a:t>로 클라이언트 사이드 </a:t>
            </a:r>
            <a:r>
              <a:rPr lang="ko-KR" altLang="en-US" b="1" dirty="0" err="1"/>
              <a:t>페이지네이션</a:t>
            </a:r>
            <a:r>
              <a:rPr lang="ko-KR" altLang="en-US" b="1" dirty="0"/>
              <a:t> 또는 서버 </a:t>
            </a:r>
            <a:r>
              <a:rPr lang="en-US" altLang="ko-KR" b="1" dirty="0"/>
              <a:t>API</a:t>
            </a:r>
            <a:r>
              <a:rPr lang="ko-KR" altLang="en-US" b="1" dirty="0"/>
              <a:t>에서 </a:t>
            </a:r>
            <a:r>
              <a:rPr lang="en-US" altLang="ko-KR" b="1" dirty="0"/>
              <a:t>page </a:t>
            </a:r>
            <a:r>
              <a:rPr lang="ko-KR" altLang="en-US" b="1" dirty="0"/>
              <a:t>파라미터 지원</a:t>
            </a:r>
          </a:p>
          <a:p>
            <a:endParaRPr lang="ko-KR" altLang="en-US" b="1" dirty="0"/>
          </a:p>
          <a:p>
            <a:pPr marL="0" indent="0">
              <a:buNone/>
            </a:pPr>
            <a:r>
              <a:rPr lang="en-US" altLang="ko-KR" b="1" dirty="0"/>
              <a:t>3.  </a:t>
            </a:r>
            <a:r>
              <a:rPr lang="ko-KR" altLang="en-US" b="1" dirty="0"/>
              <a:t>로딩 표시 및 반응형 </a:t>
            </a:r>
            <a:r>
              <a:rPr lang="en-US" altLang="ko-KR" b="1" dirty="0"/>
              <a:t>UI </a:t>
            </a:r>
            <a:r>
              <a:rPr lang="ko-KR" altLang="en-US" b="1" dirty="0"/>
              <a:t>개선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설명</a:t>
            </a:r>
            <a:r>
              <a:rPr lang="en-US" altLang="ko-KR" b="1" dirty="0"/>
              <a:t>: </a:t>
            </a:r>
            <a:r>
              <a:rPr lang="ko-KR" altLang="en-US" b="1" dirty="0"/>
              <a:t>데이터를 불러오는 동안 로딩 </a:t>
            </a:r>
            <a:r>
              <a:rPr lang="ko-KR" altLang="en-US" b="1" dirty="0" err="1"/>
              <a:t>스피너를</a:t>
            </a:r>
            <a:r>
              <a:rPr lang="ko-KR" altLang="en-US" b="1" dirty="0"/>
              <a:t> 제공하고</a:t>
            </a:r>
            <a:r>
              <a:rPr lang="en-US" altLang="ko-KR" b="1" dirty="0"/>
              <a:t>, </a:t>
            </a:r>
            <a:r>
              <a:rPr lang="ko-KR" altLang="en-US" b="1" dirty="0"/>
              <a:t>모바일</a:t>
            </a:r>
            <a:r>
              <a:rPr lang="en-US" altLang="ko-KR" b="1" dirty="0"/>
              <a:t>/</a:t>
            </a:r>
            <a:r>
              <a:rPr lang="ko-KR" altLang="en-US" b="1" dirty="0"/>
              <a:t>데스크톱 환경에 최적화된 </a:t>
            </a:r>
            <a:r>
              <a:rPr lang="en-US" altLang="ko-KR" b="1" dirty="0"/>
              <a:t>UI </a:t>
            </a:r>
            <a:r>
              <a:rPr lang="ko-KR" altLang="en-US" b="1" dirty="0"/>
              <a:t>제공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기술</a:t>
            </a:r>
            <a:r>
              <a:rPr lang="en-US" altLang="ko-KR" b="1" dirty="0"/>
              <a:t>: CSS </a:t>
            </a:r>
            <a:r>
              <a:rPr lang="ko-KR" altLang="en-US" b="1" dirty="0" err="1"/>
              <a:t>미디어쿼리</a:t>
            </a:r>
            <a:r>
              <a:rPr lang="en-US" altLang="ko-KR" b="1" dirty="0"/>
              <a:t>, Tailwind CSS </a:t>
            </a:r>
            <a:r>
              <a:rPr lang="ko-KR" altLang="en-US" b="1" dirty="0"/>
              <a:t>반응형 유틸리티</a:t>
            </a:r>
            <a:r>
              <a:rPr lang="en-US" altLang="ko-KR" b="1" dirty="0"/>
              <a:t>, JavaScript </a:t>
            </a:r>
            <a:r>
              <a:rPr lang="ko-KR" altLang="en-US" b="1" dirty="0"/>
              <a:t>로딩 상태 처리</a:t>
            </a:r>
          </a:p>
          <a:p>
            <a:endParaRPr lang="ko-KR" altLang="en-US" b="1" dirty="0"/>
          </a:p>
          <a:p>
            <a:pPr marL="0" indent="0">
              <a:buNone/>
            </a:pPr>
            <a:r>
              <a:rPr lang="en-US" altLang="ko-KR" b="1" dirty="0"/>
              <a:t>4. </a:t>
            </a:r>
            <a:r>
              <a:rPr lang="ko-KR" altLang="en-US" b="1" dirty="0"/>
              <a:t>출발 항공편 정보도 통합 조회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설명</a:t>
            </a:r>
            <a:r>
              <a:rPr lang="en-US" altLang="ko-KR" b="1" dirty="0"/>
              <a:t>: </a:t>
            </a:r>
            <a:r>
              <a:rPr lang="ko-KR" altLang="en-US" b="1" dirty="0"/>
              <a:t>기존의 도착 항공편 외에 출발 항공편도 함께 조회할 수 있도록 기능 확장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기술</a:t>
            </a:r>
            <a:r>
              <a:rPr lang="en-US" altLang="ko-KR" b="1" dirty="0"/>
              <a:t>: API endpoint </a:t>
            </a:r>
            <a:r>
              <a:rPr lang="ko-KR" altLang="en-US" b="1" dirty="0"/>
              <a:t>변경 </a:t>
            </a:r>
            <a:r>
              <a:rPr lang="en-US" altLang="ko-KR" b="1" dirty="0"/>
              <a:t>(`</a:t>
            </a:r>
            <a:r>
              <a:rPr lang="ko-KR" altLang="en-US" b="1" dirty="0"/>
              <a:t>도착정보</a:t>
            </a:r>
            <a:r>
              <a:rPr lang="en-US" altLang="ko-KR" b="1" dirty="0"/>
              <a:t>` ↔ `</a:t>
            </a:r>
            <a:r>
              <a:rPr lang="ko-KR" altLang="en-US" b="1" dirty="0"/>
              <a:t>출발정보</a:t>
            </a:r>
            <a:r>
              <a:rPr lang="en-US" altLang="ko-KR" b="1" dirty="0"/>
              <a:t>`), UI</a:t>
            </a:r>
            <a:r>
              <a:rPr lang="ko-KR" altLang="en-US" b="1" dirty="0"/>
              <a:t>에 탭 전환 기능 추가</a:t>
            </a:r>
          </a:p>
          <a:p>
            <a:endParaRPr lang="ko-KR" altLang="en-US" b="1" dirty="0"/>
          </a:p>
          <a:p>
            <a:pPr marL="0" indent="0">
              <a:buNone/>
            </a:pPr>
            <a:r>
              <a:rPr lang="en-US" altLang="ko-KR" b="1" dirty="0"/>
              <a:t>5. ✅ </a:t>
            </a:r>
            <a:r>
              <a:rPr lang="ko-KR" altLang="en-US" b="1" dirty="0"/>
              <a:t>검색 결과 정렬 기능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설명</a:t>
            </a:r>
            <a:r>
              <a:rPr lang="en-US" altLang="ko-KR" b="1" dirty="0"/>
              <a:t>: </a:t>
            </a:r>
            <a:r>
              <a:rPr lang="ko-KR" altLang="en-US" b="1" dirty="0"/>
              <a:t>사용자가 도착 시간</a:t>
            </a:r>
            <a:r>
              <a:rPr lang="en-US" altLang="ko-KR" b="1" dirty="0"/>
              <a:t>, </a:t>
            </a:r>
            <a:r>
              <a:rPr lang="ko-KR" altLang="en-US" b="1" dirty="0"/>
              <a:t>항공사 이름</a:t>
            </a:r>
            <a:r>
              <a:rPr lang="en-US" altLang="ko-KR" b="1" dirty="0"/>
              <a:t>, </a:t>
            </a:r>
            <a:r>
              <a:rPr lang="ko-KR" altLang="en-US" b="1" dirty="0"/>
              <a:t>터미널 등 기준으로 정렬 가능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기술</a:t>
            </a:r>
            <a:r>
              <a:rPr lang="en-US" altLang="ko-KR" b="1" dirty="0"/>
              <a:t>: JavaScript </a:t>
            </a:r>
            <a:r>
              <a:rPr lang="ko-KR" altLang="en-US" b="1" dirty="0"/>
              <a:t>배열 정렬 </a:t>
            </a:r>
            <a:r>
              <a:rPr lang="en-US" altLang="ko-KR" b="1" dirty="0"/>
              <a:t>(</a:t>
            </a:r>
            <a:r>
              <a:rPr lang="en-US" altLang="ko-KR" b="1" dirty="0" err="1"/>
              <a:t>Array.sort</a:t>
            </a:r>
            <a:r>
              <a:rPr lang="en-US" altLang="ko-KR" b="1" dirty="0"/>
              <a:t>), select dropdown UI </a:t>
            </a:r>
            <a:r>
              <a:rPr lang="ko-KR" altLang="en-US" b="1" dirty="0"/>
              <a:t>추가</a:t>
            </a:r>
          </a:p>
          <a:p>
            <a:endParaRPr lang="ko-KR" altLang="en-US" b="1" dirty="0"/>
          </a:p>
          <a:p>
            <a:pPr marL="0" indent="0">
              <a:buNone/>
            </a:pPr>
            <a:r>
              <a:rPr lang="en-US" altLang="ko-KR" b="1" dirty="0"/>
              <a:t>6. ✅ </a:t>
            </a:r>
            <a:r>
              <a:rPr lang="ko-KR" altLang="en-US" b="1" dirty="0"/>
              <a:t>에러 메시지 및 예외 처리 강화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설명</a:t>
            </a:r>
            <a:r>
              <a:rPr lang="en-US" altLang="ko-KR" b="1" dirty="0"/>
              <a:t>: API </a:t>
            </a:r>
            <a:r>
              <a:rPr lang="ko-KR" altLang="en-US" b="1" dirty="0"/>
              <a:t>응답 오류</a:t>
            </a:r>
            <a:r>
              <a:rPr lang="en-US" altLang="ko-KR" b="1" dirty="0"/>
              <a:t>, </a:t>
            </a:r>
            <a:r>
              <a:rPr lang="ko-KR" altLang="en-US" b="1" dirty="0"/>
              <a:t>네트워크 장애 등에 대비하여 사용자에게 친절한 메시지 제공</a:t>
            </a:r>
          </a:p>
          <a:p>
            <a:pPr marL="0" indent="0">
              <a:buNone/>
            </a:pPr>
            <a:r>
              <a:rPr lang="en-US" altLang="ko-KR" b="1" dirty="0"/>
              <a:t>- </a:t>
            </a:r>
            <a:r>
              <a:rPr lang="ko-KR" altLang="en-US" b="1" dirty="0"/>
              <a:t>기술</a:t>
            </a:r>
            <a:r>
              <a:rPr lang="en-US" altLang="ko-KR" b="1" dirty="0"/>
              <a:t>: try/catch, HTTP </a:t>
            </a:r>
            <a:r>
              <a:rPr lang="ko-KR" altLang="en-US" b="1" dirty="0"/>
              <a:t>상태코드 기반 오류 처리 및 </a:t>
            </a:r>
            <a:r>
              <a:rPr lang="en-US" altLang="ko-KR" b="1" dirty="0"/>
              <a:t>alert </a:t>
            </a:r>
            <a:r>
              <a:rPr lang="ko-KR" altLang="en-US" b="1" dirty="0"/>
              <a:t>표시</a:t>
            </a:r>
          </a:p>
          <a:p>
            <a:endParaRPr lang="ko-KR" altLang="en-US" b="1" dirty="0"/>
          </a:p>
          <a:p>
            <a:endParaRPr lang="ko-KR" altLang="en-US" b="1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</a:t>
            </a:r>
            <a:r>
              <a:rPr lang="ko-KR" altLang="en-US" dirty="0"/>
              <a:t>프로젝트를 하면서 느낀 점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987552"/>
            <a:ext cx="11249025" cy="5870448"/>
          </a:xfrm>
        </p:spPr>
        <p:txBody>
          <a:bodyPr>
            <a:noAutofit/>
          </a:bodyPr>
          <a:lstStyle/>
          <a:p>
            <a:endParaRPr lang="ko-KR" altLang="en-US" sz="2000" dirty="0"/>
          </a:p>
          <a:p>
            <a:pPr marL="0" indent="0">
              <a:buNone/>
            </a:pPr>
            <a:r>
              <a:rPr lang="ko-KR" altLang="en-US" sz="2000" dirty="0"/>
              <a:t>번 프로젝트는 </a:t>
            </a:r>
            <a:r>
              <a:rPr lang="ko-KR" altLang="en-US" sz="2000" dirty="0" err="1"/>
              <a:t>공공데이터포털에서</a:t>
            </a:r>
            <a:r>
              <a:rPr lang="ko-KR" altLang="en-US" sz="2000" dirty="0"/>
              <a:t> 제공하는 오픈 </a:t>
            </a:r>
            <a:r>
              <a:rPr lang="en-US" altLang="ko-KR" sz="2000" dirty="0"/>
              <a:t>API</a:t>
            </a:r>
            <a:r>
              <a:rPr lang="ko-KR" altLang="en-US" sz="2000" dirty="0"/>
              <a:t>를 활용하여 실시간 공항 도착 항공편 정보를 조회할 수 있는 웹서비스를 </a:t>
            </a:r>
            <a:r>
              <a:rPr lang="en-US" altLang="ko-KR" sz="2000" dirty="0"/>
              <a:t>Docker </a:t>
            </a:r>
            <a:r>
              <a:rPr lang="ko-KR" altLang="en-US" sz="2000" dirty="0"/>
              <a:t>환경에서 직접 구축해보는 실습이었습니다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</a:t>
            </a:r>
            <a:r>
              <a:rPr lang="ko-KR" altLang="en-US" sz="2000" dirty="0"/>
              <a:t>공공데이터 </a:t>
            </a:r>
            <a:r>
              <a:rPr lang="en-US" altLang="ko-KR" sz="2000" dirty="0"/>
              <a:t>API </a:t>
            </a:r>
            <a:r>
              <a:rPr lang="ko-KR" altLang="en-US" sz="2000" dirty="0"/>
              <a:t>실습을 통한 데이터 처리 능력 향상 </a:t>
            </a:r>
          </a:p>
          <a:p>
            <a:pPr marL="0" indent="0">
              <a:buNone/>
            </a:pPr>
            <a:r>
              <a:rPr lang="ko-KR" altLang="en-US" sz="2000" dirty="0"/>
              <a:t>처음에는 </a:t>
            </a:r>
            <a:r>
              <a:rPr lang="en-US" altLang="ko-KR" sz="2000" dirty="0"/>
              <a:t>XML </a:t>
            </a:r>
            <a:r>
              <a:rPr lang="ko-KR" altLang="en-US" sz="2000" dirty="0"/>
              <a:t>형식의 </a:t>
            </a:r>
            <a:r>
              <a:rPr lang="en-US" altLang="ko-KR" sz="2000" dirty="0"/>
              <a:t>API </a:t>
            </a:r>
            <a:r>
              <a:rPr lang="ko-KR" altLang="en-US" sz="2000" dirty="0"/>
              <a:t>응답 데이터를 </a:t>
            </a:r>
            <a:r>
              <a:rPr lang="ko-KR" altLang="en-US" sz="2000" dirty="0" err="1"/>
              <a:t>파싱하는</a:t>
            </a:r>
            <a:r>
              <a:rPr lang="ko-KR" altLang="en-US" sz="2000" dirty="0"/>
              <a:t> 데 어려움이 있었지만</a:t>
            </a:r>
            <a:r>
              <a:rPr lang="en-US" altLang="ko-KR" sz="2000" dirty="0"/>
              <a:t>, Python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xml.etree.ElementTree</a:t>
            </a:r>
            <a:r>
              <a:rPr lang="en-US" altLang="ko-KR" sz="2000" dirty="0"/>
              <a:t> </a:t>
            </a:r>
            <a:r>
              <a:rPr lang="ko-KR" altLang="en-US" sz="2000" dirty="0"/>
              <a:t>모듈과 </a:t>
            </a:r>
            <a:r>
              <a:rPr lang="en-US" altLang="ko-KR" sz="2000" dirty="0"/>
              <a:t>JSON </a:t>
            </a:r>
            <a:r>
              <a:rPr lang="ko-KR" altLang="en-US" sz="2000" dirty="0"/>
              <a:t>변환 과정을 직접 다루면서 공공데이터 </a:t>
            </a:r>
            <a:r>
              <a:rPr lang="en-US" altLang="ko-KR" sz="2000" dirty="0"/>
              <a:t>API</a:t>
            </a:r>
            <a:r>
              <a:rPr lang="ko-KR" altLang="en-US" sz="2000" dirty="0"/>
              <a:t>의 구조와 처리 방법에 대한 이해도가 높아졌습니다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-Docker </a:t>
            </a:r>
            <a:r>
              <a:rPr lang="ko-KR" altLang="en-US" sz="2000" dirty="0"/>
              <a:t>및 </a:t>
            </a:r>
            <a:r>
              <a:rPr lang="en-US" altLang="ko-KR" sz="2000" dirty="0"/>
              <a:t>Docker Compose </a:t>
            </a:r>
            <a:r>
              <a:rPr lang="ko-KR" altLang="en-US" sz="2000" dirty="0"/>
              <a:t>활용 능력 향상  </a:t>
            </a:r>
          </a:p>
          <a:p>
            <a:pPr marL="0" indent="0">
              <a:buNone/>
            </a:pPr>
            <a:r>
              <a:rPr lang="ko-KR" altLang="en-US" sz="2000" dirty="0"/>
              <a:t>데이터 수집과 웹서버를 각각의 컨테이너로 분리하고 </a:t>
            </a:r>
            <a:r>
              <a:rPr lang="en-US" altLang="ko-KR" sz="2000" dirty="0"/>
              <a:t>docker-compose</a:t>
            </a:r>
            <a:r>
              <a:rPr lang="ko-KR" altLang="en-US" sz="2000" dirty="0"/>
              <a:t>를 이용해 동시에 실행시키는 방식은 서비스 간 독립성과 유지보수 측면에서 매우 효율적이라는 점을 배웠습니다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</a:t>
            </a:r>
            <a:r>
              <a:rPr lang="ko-KR" altLang="en-US" sz="2000" dirty="0"/>
              <a:t>한 줄 요약  </a:t>
            </a:r>
          </a:p>
          <a:p>
            <a:pPr marL="0" indent="0">
              <a:buNone/>
            </a:pPr>
            <a:r>
              <a:rPr lang="ko-KR" altLang="en-US" sz="2000" dirty="0"/>
              <a:t>이 프로젝트를 통해 공공데이터 기반 웹서비스를 실제로 설계하고 구현해보며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백엔드</a:t>
            </a:r>
            <a:r>
              <a:rPr lang="ko-KR" altLang="en-US" sz="2000" dirty="0"/>
              <a:t> </a:t>
            </a:r>
            <a:r>
              <a:rPr lang="en-US" altLang="ko-KR" sz="2000" dirty="0"/>
              <a:t>API </a:t>
            </a:r>
            <a:r>
              <a:rPr lang="ko-KR" altLang="en-US" sz="2000" dirty="0"/>
              <a:t>처리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프론트엔드</a:t>
            </a:r>
            <a:r>
              <a:rPr lang="ko-KR" altLang="en-US" sz="2000" dirty="0"/>
              <a:t> 시각화</a:t>
            </a:r>
            <a:r>
              <a:rPr lang="en-US" altLang="ko-KR" sz="2000" dirty="0"/>
              <a:t>, Docker </a:t>
            </a:r>
            <a:r>
              <a:rPr lang="ko-KR" altLang="en-US" sz="2000" dirty="0"/>
              <a:t>기반 배포 등 다양한 기술을 통합적으로 경험할 수 있는 소중한 기회였습니다</a:t>
            </a:r>
            <a:r>
              <a:rPr lang="en-US" altLang="ko-KR" sz="200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_Korea03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TM10237563[[fn=우주 테마]]</Template>
  <TotalTime>14</TotalTime>
  <Words>879</Words>
  <Application>Microsoft Office PowerPoint</Application>
  <PresentationFormat>와이드스크린</PresentationFormat>
  <Paragraphs>76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맑은 고딕</vt:lpstr>
      <vt:lpstr>휴먼모음T</vt:lpstr>
      <vt:lpstr>Arial</vt:lpstr>
      <vt:lpstr>Corbel</vt:lpstr>
      <vt:lpstr>Tw Cen MT</vt:lpstr>
      <vt:lpstr>Wingdings</vt:lpstr>
      <vt:lpstr>Wingdings 2</vt:lpstr>
      <vt:lpstr>New_Korea03</vt:lpstr>
      <vt:lpstr>공항 도착 항공편 정보 API 기반 웹 프로젝트</vt:lpstr>
      <vt:lpstr>목차</vt:lpstr>
      <vt:lpstr>1. API 선택 이유</vt:lpstr>
      <vt:lpstr>2. API 기반 웹페이지 설계</vt:lpstr>
      <vt:lpstr>3.프로젝트 구조</vt:lpstr>
      <vt:lpstr>4. 개선 및 고도화 작업</vt:lpstr>
      <vt:lpstr>5. 프로젝트를 하면서 느낀 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공항 도착 항공편 정보 API 기반 웹 프로젝트</dc:title>
  <dc:creator>user</dc:creator>
  <cp:lastModifiedBy>user</cp:lastModifiedBy>
  <cp:revision>3</cp:revision>
  <dcterms:created xsi:type="dcterms:W3CDTF">2025-06-06T01:17:43Z</dcterms:created>
  <dcterms:modified xsi:type="dcterms:W3CDTF">2025-06-06T01:31:45Z</dcterms:modified>
</cp:coreProperties>
</file>